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314" r:id="rId5"/>
    <p:sldId id="329" r:id="rId6"/>
    <p:sldId id="334" r:id="rId7"/>
    <p:sldId id="343" r:id="rId8"/>
    <p:sldId id="339" r:id="rId9"/>
    <p:sldId id="344" r:id="rId10"/>
    <p:sldId id="322" r:id="rId11"/>
    <p:sldId id="341" r:id="rId12"/>
    <p:sldId id="33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DDFE"/>
    <a:srgbClr val="D4DDFE"/>
    <a:srgbClr val="D5DEFF"/>
    <a:srgbClr val="F6F7FF"/>
    <a:srgbClr val="DBDCE5"/>
    <a:srgbClr val="F0F1FB"/>
    <a:srgbClr val="DFE1F6"/>
    <a:srgbClr val="EEEFF5"/>
    <a:srgbClr val="DFE1EF"/>
    <a:srgbClr val="A9B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5394" autoAdjust="0"/>
  </p:normalViewPr>
  <p:slideViewPr>
    <p:cSldViewPr snapToGrid="0">
      <p:cViewPr varScale="1">
        <p:scale>
          <a:sx n="68" d="100"/>
          <a:sy n="68" d="100"/>
        </p:scale>
        <p:origin x="1680" y="278"/>
      </p:cViewPr>
      <p:guideLst>
        <p:guide orient="horz" pos="1416"/>
        <p:guide orient="horz" pos="1008"/>
        <p:guide pos="3840"/>
      </p:guideLst>
    </p:cSldViewPr>
  </p:slideViewPr>
  <p:outlineViewPr>
    <p:cViewPr>
      <p:scale>
        <a:sx n="33" d="100"/>
        <a:sy n="33" d="100"/>
      </p:scale>
      <p:origin x="0" y="-1036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62055-8DBD-6042-92AC-66DE479F90DE}" type="datetimeFigureOut">
              <a:rPr lang="en-US" smtClean="0"/>
              <a:t>12/22/2025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EE50A-AB77-49BE-9076-23C4C8D08BB2}" type="datetimeFigureOut">
              <a:rPr lang="en-US" smtClean="0"/>
              <a:t>12/22/2025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09883-B744-4FDD-8623-D69A666500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 chose to make a Library Management System for my project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2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thinking of my project, I started by focusing on meeting the design requirements.</a:t>
            </a:r>
            <a:br>
              <a:rPr lang="en-US" dirty="0"/>
            </a:br>
            <a:r>
              <a:rPr lang="en-US" dirty="0"/>
              <a:t>- It was written in Java using </a:t>
            </a:r>
            <a:r>
              <a:rPr lang="en-US" dirty="0" err="1"/>
              <a:t>Intellij</a:t>
            </a:r>
            <a:br>
              <a:rPr lang="en-US" dirty="0"/>
            </a:br>
            <a:r>
              <a:rPr lang="en-US" dirty="0"/>
              <a:t>- I used the scanner functionality to make it Console Based</a:t>
            </a:r>
          </a:p>
          <a:p>
            <a:pPr marL="171450" indent="-171450">
              <a:buFontTx/>
              <a:buChar char="-"/>
            </a:pPr>
            <a:r>
              <a:rPr lang="en-US" dirty="0"/>
              <a:t>I used docker and PostgreSQL to keep the data persistent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I used the 3-tier structure to ensure separation of concerns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55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the user to be able to create, read, update, and delete all of the relevant entities.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Members represent people who can check out book</a:t>
            </a:r>
          </a:p>
          <a:p>
            <a:pPr marL="171450" indent="-171450">
              <a:buFontTx/>
              <a:buChar char="-"/>
            </a:pPr>
            <a:r>
              <a:rPr lang="en-US" dirty="0"/>
              <a:t>Books represents the library’s current catalog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Loans to track which members borrow which 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4363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was split between several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controller layer for the user facing menus and input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service layer for the business logic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repository for communicating with the 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database itself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There is also a Util package to handle some validation as well as the global scanner and JDBC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82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SQL database meets the requirements by</a:t>
            </a:r>
          </a:p>
          <a:p>
            <a:pPr marL="171450" indent="-171450">
              <a:buFontTx/>
              <a:buChar char="-"/>
            </a:pPr>
            <a:r>
              <a:rPr lang="en-US" dirty="0"/>
              <a:t>Having a many to many relationship between members and books</a:t>
            </a:r>
          </a:p>
          <a:p>
            <a:pPr marL="171450" indent="-171450">
              <a:buFontTx/>
              <a:buChar char="-"/>
            </a:pPr>
            <a:r>
              <a:rPr lang="en-US" dirty="0"/>
              <a:t>Loans is a bridge table for this relationship</a:t>
            </a:r>
          </a:p>
          <a:p>
            <a:pPr marL="171450" indent="-171450">
              <a:buFontTx/>
              <a:buChar char="-"/>
            </a:pPr>
            <a:r>
              <a:rPr lang="en-US" dirty="0"/>
              <a:t>It is in 3NF because each table represents a single entity, all non-key attributes depend only on the table’s primary key, and there are no transitive dependencies—relationships between books and members are handled exclusively through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loans</a:t>
            </a:r>
            <a:r>
              <a:rPr lang="en-US" dirty="0"/>
              <a:t> table using foreign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9989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A71B-F609-3D85-812B-F1EA56F31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221FE3-CC58-59CA-BCA4-16FD3AC1D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95A1D-6537-4E98-22D6-7ED9319A4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is the basic implementation of the 3-tier structure in Java with some of the package details hidden.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[NEXT]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And this is the full project structure on display.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91384-D326-F13F-431E-8DA5AA120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408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[MOVE TO IDE]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233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455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https://github.com/XenonReaction/Project_0-Library_Management_System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7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1185" y="629469"/>
            <a:ext cx="8961120" cy="5599062"/>
          </a:xfrm>
        </p:spPr>
        <p:txBody>
          <a:bodyPr lIns="0" tIns="0" rIns="0" bIns="0" anchor="ctr">
            <a:noAutofit/>
          </a:bodyPr>
          <a:lstStyle>
            <a:lvl1pPr mar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7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A65DB93-2357-6899-3DDD-DC79C877A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Object 1">
            <a:extLst>
              <a:ext uri="{FF2B5EF4-FFF2-40B4-BE49-F238E27FC236}">
                <a16:creationId xmlns:a16="http://schemas.microsoft.com/office/drawing/2014/main" id="{056E6431-5C32-6197-AA1B-376379431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3"/>
            <a:ext cx="6400800" cy="1828800"/>
          </a:xfrm>
        </p:spPr>
        <p:txBody>
          <a:bodyPr lIns="0" tIns="0" rIns="0" bIns="0">
            <a:noAutofit/>
          </a:bodyPr>
          <a:lstStyle>
            <a:lvl1pPr>
              <a:defRPr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1AC91-E5AE-A457-178C-6A577DAAF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185" y="2774786"/>
            <a:ext cx="6400800" cy="3257550"/>
          </a:xfrm>
        </p:spPr>
        <p:txBody>
          <a:bodyPr lIns="0"/>
          <a:lstStyle>
            <a:lvl1pPr marL="0" indent="0">
              <a:buNone/>
              <a:defRPr sz="2400"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D4FED77-2877-7D28-E27C-7BE9F5E73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785AC1-54EA-61EE-115B-C1910CC60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F0B2CA14-03DC-FC05-7713-E0261B4B2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EC223C2-E475-8E7A-48D4-A9BC2EB69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49382" y="174786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D9D7CE-BCD9-0B12-1945-C5FFE31A7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93014" y="36107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827307"/>
            <a:ext cx="6400800" cy="5203387"/>
          </a:xfrm>
        </p:spPr>
        <p:txBody>
          <a:bodyPr lIns="0" tIns="0" rIns="0" bIns="0" anchor="ctr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7BD7E0A-39A9-0CF7-F1CE-E777075BFAA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401915" y="304690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ln w="57150">
            <a:noFill/>
          </a:ln>
        </p:spPr>
        <p:txBody>
          <a:bodyPr wrap="square" tIns="137160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69C21E5-B8EE-7438-A771-34BC8006E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18F333FA-6DDE-DB6C-73BB-FE8387977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B87953E-96F2-8BCC-B295-E1033E7D27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7599718" cy="3051394"/>
          </a:xfrm>
        </p:spPr>
        <p:txBody>
          <a:bodyPr lIns="0" tIns="0" rIns="0" bIns="0"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0A627B70-91C8-40B9-6189-B29749FF6E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1185" y="3965028"/>
            <a:ext cx="7599718" cy="149378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accent4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947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C12813-DBA6-41C2-2418-83919E059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741680" y="0"/>
            <a:ext cx="2133966" cy="2133966"/>
            <a:chOff x="9654699" y="2229295"/>
            <a:chExt cx="2133966" cy="2133966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2A74540-7988-B712-8AB1-9EE03FE1EC8A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36CF9A1-91DA-6419-08F2-4CC262EA4D1E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9" name="Graphic 8">
            <a:extLst>
              <a:ext uri="{FF2B5EF4-FFF2-40B4-BE49-F238E27FC236}">
                <a16:creationId xmlns:a16="http://schemas.microsoft.com/office/drawing/2014/main" id="{AAAE3BC0-55AE-B520-F2B8-50BF886EF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 flipH="1" flipV="1">
            <a:off x="0" y="3626779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0" y="621972"/>
            <a:ext cx="6400800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2A1870-E86B-5125-7AB3-A1F5DF7E752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53000" y="2768043"/>
            <a:ext cx="6400799" cy="3231221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11480">
              <a:defRPr sz="1600"/>
            </a:lvl2pPr>
            <a:lvl3pPr marL="685800">
              <a:defRPr sz="1400"/>
            </a:lvl3pPr>
            <a:lvl4pPr marL="1051560">
              <a:defRPr sz="1200"/>
            </a:lvl4pPr>
            <a:lvl5pPr marL="1417320">
              <a:defRPr sz="1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1FE2A1C-A3CC-9D8B-DE44-FDE1132F7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3C454DD-C924-8468-6944-AF53508C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882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3051393"/>
          </a:xfrm>
        </p:spPr>
        <p:txBody>
          <a:bodyPr lIns="0" tIns="0" rIns="0" bIns="0" anchor="b">
            <a:noAutofit/>
          </a:bodyPr>
          <a:lstStyle>
            <a:lvl1pPr>
              <a:defRPr sz="54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185" y="3965028"/>
            <a:ext cx="6400799" cy="1966747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400" b="1" i="0" dirty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</a:lstStyle>
          <a:p>
            <a:pPr marL="228600" lvl="0" indent="-228600"/>
            <a:r>
              <a:rPr lang="en-US" dirty="0"/>
              <a:t>Click to add subtitle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38EDAF-6CF8-D96E-EB91-CAFEBE0CA1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91187" y="247518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solidFill>
            <a:schemeClr val="accent3"/>
          </a:solidFill>
          <a:ln w="57150">
            <a:noFill/>
          </a:ln>
        </p:spPr>
        <p:txBody>
          <a:bodyPr wrap="square" tIns="118872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E148B4D-CB0B-8B95-BA58-B33DE0530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B895145-43B3-C337-08C1-C009F83D87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83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A22F8239-92F5-595B-5DD3-ACBA1C19E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82969"/>
          <a:stretch/>
        </p:blipFill>
        <p:spPr>
          <a:xfrm>
            <a:off x="3459002" y="5609995"/>
            <a:ext cx="7328137" cy="1248005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F9E987C-6F3E-FB11-D796-2D5F9075A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1" name="Title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21792"/>
            <a:ext cx="8180412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A612ED1-3CD3-8532-2C92-777F6D005F1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3816" y="2948152"/>
            <a:ext cx="4956470" cy="3120773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4BCE7-3651-7CA3-1353-9B2526D267A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421716" y="2948152"/>
            <a:ext cx="4956470" cy="3120773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1">
            <a:extLst>
              <a:ext uri="{FF2B5EF4-FFF2-40B4-BE49-F238E27FC236}">
                <a16:creationId xmlns:a16="http://schemas.microsoft.com/office/drawing/2014/main" id="{83F8143D-16B1-4CE2-1910-9E5074922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10800000">
            <a:off x="1084203" y="4586286"/>
            <a:ext cx="1574573" cy="227171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6BE63D1-6CC6-AD50-D587-0514090FB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13816" y="2184400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05155"/>
            <a:ext cx="10571734" cy="1160145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DE6614-889D-2DB5-4C2F-DCBD22BA3B2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3835400" y="2185127"/>
            <a:ext cx="2736849" cy="4067717"/>
          </a:xfrm>
        </p:spPr>
        <p:txBody>
          <a:bodyPr lIns="0" tIns="0" rIns="0" bIns="0"/>
          <a:lstStyle>
            <a:lvl1pPr marL="342900" indent="-342900">
              <a:buFont typeface="+mj-lt"/>
              <a:buAutoNum type="arabicPeriod"/>
              <a:defRPr sz="1800"/>
            </a:lvl1pPr>
            <a:lvl2pPr marL="525780" indent="-342900">
              <a:buFont typeface="+mj-lt"/>
              <a:buAutoNum type="alphaLcPeriod"/>
              <a:defRPr sz="1800"/>
            </a:lvl2pPr>
            <a:lvl3pPr marL="800100" indent="-342900">
              <a:buFont typeface="+mj-lt"/>
              <a:buAutoNum type="arabicParenR"/>
              <a:defRPr sz="1800"/>
            </a:lvl3pPr>
            <a:lvl4pPr marL="1051560" indent="-228600">
              <a:buFont typeface="+mj-lt"/>
              <a:buAutoNum type="alphaLcParenR"/>
              <a:defRPr sz="1800"/>
            </a:lvl4pPr>
            <a:lvl5pPr marL="1417320" indent="-2286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7B2B871-B646-8E1E-CD57-2224B2D4E590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221564" y="2184400"/>
            <a:ext cx="4156619" cy="4046290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698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78285"/>
          <a:stretch/>
        </p:blipFill>
        <p:spPr>
          <a:xfrm>
            <a:off x="0" y="5368807"/>
            <a:ext cx="3769950" cy="1489194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6275416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FE945C7-CAAC-C9B4-0B56-EC62E53C8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82467" y="5439854"/>
            <a:ext cx="1096391" cy="109639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 4">
            <a:extLst>
              <a:ext uri="{FF2B5EF4-FFF2-40B4-BE49-F238E27FC236}">
                <a16:creationId xmlns:a16="http://schemas.microsoft.com/office/drawing/2014/main" id="{E58C5299-758C-70DA-D929-E0BC719E9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16629" y="3758740"/>
            <a:ext cx="2130921" cy="2130921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4C6AC-F9E8-412E-2D6B-9FDD07ADDE7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0330" y="2771566"/>
            <a:ext cx="6275387" cy="3271324"/>
          </a:xfrm>
        </p:spPr>
        <p:txBody>
          <a:bodyPr lIns="0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0463C33-FF99-2443-BE5D-682AC8CB8B7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9054" y="459137"/>
            <a:ext cx="4126800" cy="4126800"/>
          </a:xfrm>
          <a:custGeom>
            <a:avLst/>
            <a:gdLst>
              <a:gd name="connsiteX0" fmla="*/ 2063400 w 4126800"/>
              <a:gd name="connsiteY0" fmla="*/ 0 h 4126800"/>
              <a:gd name="connsiteX1" fmla="*/ 4126800 w 4126800"/>
              <a:gd name="connsiteY1" fmla="*/ 2063400 h 4126800"/>
              <a:gd name="connsiteX2" fmla="*/ 2063400 w 4126800"/>
              <a:gd name="connsiteY2" fmla="*/ 4126800 h 4126800"/>
              <a:gd name="connsiteX3" fmla="*/ 0 w 4126800"/>
              <a:gd name="connsiteY3" fmla="*/ 2063400 h 4126800"/>
              <a:gd name="connsiteX4" fmla="*/ 2063400 w 4126800"/>
              <a:gd name="connsiteY4" fmla="*/ 0 h 412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6800" h="4126800">
                <a:moveTo>
                  <a:pt x="2063400" y="0"/>
                </a:moveTo>
                <a:cubicBezTo>
                  <a:pt x="3202984" y="0"/>
                  <a:pt x="4126800" y="923816"/>
                  <a:pt x="4126800" y="2063400"/>
                </a:cubicBezTo>
                <a:cubicBezTo>
                  <a:pt x="4126800" y="3202984"/>
                  <a:pt x="3202984" y="4126800"/>
                  <a:pt x="2063400" y="4126800"/>
                </a:cubicBezTo>
                <a:cubicBezTo>
                  <a:pt x="923816" y="4126800"/>
                  <a:pt x="0" y="3202984"/>
                  <a:pt x="0" y="2063400"/>
                </a:cubicBezTo>
                <a:cubicBezTo>
                  <a:pt x="0" y="923816"/>
                  <a:pt x="923816" y="0"/>
                  <a:pt x="2063400" y="0"/>
                </a:cubicBezTo>
                <a:close/>
              </a:path>
            </a:pathLst>
          </a:custGeom>
        </p:spPr>
        <p:txBody>
          <a:bodyPr wrap="square" tIns="73152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10569634" cy="1801793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6BDC3-2B84-117A-BF71-A331C1DD6BC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3" y="2796209"/>
            <a:ext cx="3657598" cy="3147392"/>
          </a:xfrm>
        </p:spPr>
        <p:txBody>
          <a:bodyPr lIns="0" tIns="0" rIns="0" bIns="0"/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411480">
              <a:defRPr sz="1600"/>
            </a:lvl2pPr>
            <a:lvl3pPr marL="685800">
              <a:defRPr sz="1400"/>
            </a:lvl3pPr>
            <a:lvl4pPr marL="1051560">
              <a:defRPr sz="1200"/>
            </a:lvl4pPr>
            <a:lvl5pPr marL="1417320">
              <a:defRPr sz="1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4D2A92BD-8372-F61F-9551-6FA12079139B}"/>
              </a:ext>
            </a:extLst>
          </p:cNvPr>
          <p:cNvSpPr>
            <a:spLocks noGrp="1"/>
          </p:cNvSpPr>
          <p:nvPr>
            <p:ph type="tbl" sz="quarter" idx="28" hasCustomPrompt="1"/>
          </p:nvPr>
        </p:nvSpPr>
        <p:spPr>
          <a:xfrm>
            <a:off x="4902200" y="2795588"/>
            <a:ext cx="6478617" cy="314801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9EF52E1-6F3C-5D9B-32DC-A156BDDE2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647" b="86709"/>
          <a:stretch/>
        </p:blipFill>
        <p:spPr>
          <a:xfrm>
            <a:off x="-1" y="5946505"/>
            <a:ext cx="5304866" cy="911495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4510996E-0672-63AB-DCBF-25B251B2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DE2B4D4-87FA-ACC4-A0FD-E98B07CE985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5" y="3067050"/>
            <a:ext cx="6400800" cy="3048000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11480">
              <a:defRPr sz="1800"/>
            </a:lvl2pPr>
            <a:lvl3pPr marL="685800">
              <a:defRPr sz="1800"/>
            </a:lvl3pPr>
            <a:lvl4pPr marL="1051560">
              <a:defRPr sz="1800"/>
            </a:lvl4pPr>
            <a:lvl5pPr marL="141732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8F85D-7A7F-3D36-8C6A-6589D66D2AF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861300" y="3067050"/>
            <a:ext cx="3519515" cy="3048000"/>
          </a:xfrm>
        </p:spPr>
        <p:txBody>
          <a:bodyPr lIns="0" tIns="0" rIns="0" bIns="0"/>
          <a:lstStyle>
            <a:lvl1pPr marL="342900" indent="-342900">
              <a:buFont typeface="+mj-lt"/>
              <a:buAutoNum type="arabicPeriod"/>
              <a:defRPr sz="1800"/>
            </a:lvl1pPr>
            <a:lvl2pPr marL="525780" indent="-342900">
              <a:buFont typeface="+mj-lt"/>
              <a:buAutoNum type="alphaLcPeriod"/>
              <a:defRPr sz="1800"/>
            </a:lvl2pPr>
            <a:lvl3pPr marL="800100" indent="-342900">
              <a:buFont typeface="+mj-lt"/>
              <a:buAutoNum type="arabicParenR"/>
              <a:defRPr sz="1800"/>
            </a:lvl3pPr>
            <a:lvl4pPr marL="1165860" indent="-342900">
              <a:buFont typeface="+mj-lt"/>
              <a:buAutoNum type="alphaLcPeriod"/>
              <a:defRPr sz="1800"/>
            </a:lvl4pPr>
            <a:lvl5pPr marL="153162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4" y="621973"/>
            <a:ext cx="7309086" cy="1828800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3E0C7AAD-1535-12DC-133E-2253BF501721}"/>
              </a:ext>
            </a:extLst>
          </p:cNvPr>
          <p:cNvSpPr>
            <a:spLocks noGrp="1"/>
          </p:cNvSpPr>
          <p:nvPr>
            <p:ph type="tbl" sz="quarter" idx="12" hasCustomPrompt="1"/>
          </p:nvPr>
        </p:nvSpPr>
        <p:spPr>
          <a:xfrm>
            <a:off x="811183" y="2757488"/>
            <a:ext cx="10548967" cy="3399964"/>
          </a:xfrm>
        </p:spPr>
        <p:txBody>
          <a:bodyPr/>
          <a:lstStyle/>
          <a:p>
            <a:r>
              <a:rPr lang="en-US" dirty="0"/>
              <a:t>Click icon to insert table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7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4" y="612647"/>
            <a:ext cx="10002589" cy="3657600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11185" y="4724033"/>
            <a:ext cx="7000972" cy="1709423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b="1" i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CAF5C0-1B51-02B5-924D-230575353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3" name="Freeform 11">
              <a:extLst>
                <a:ext uri="{FF2B5EF4-FFF2-40B4-BE49-F238E27FC236}">
                  <a16:creationId xmlns:a16="http://schemas.microsoft.com/office/drawing/2014/main" id="{41AAE8D5-8E6A-7CBE-9018-DD8F3493D049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C694532E-B147-38A2-55EE-24483385016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14B3BE5-2D39-542C-00BB-A940C568E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5" r:id="rId3"/>
    <p:sldLayoutId id="2147483683" r:id="rId4"/>
    <p:sldLayoutId id="2147483684" r:id="rId5"/>
    <p:sldLayoutId id="2147483685" r:id="rId6"/>
    <p:sldLayoutId id="2147483671" r:id="rId7"/>
    <p:sldLayoutId id="2147483679" r:id="rId8"/>
    <p:sldLayoutId id="2147483676" r:id="rId9"/>
    <p:sldLayoutId id="2147483669" r:id="rId10"/>
    <p:sldLayoutId id="2147483673" r:id="rId11"/>
    <p:sldLayoutId id="2147483682" r:id="rId12"/>
    <p:sldLayoutId id="2147483656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benjamin201@revature.ne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XenonReaction/Project_0-Library_Management_Syste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315D2-7F57-AF2A-38D7-558098789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7946" y="400868"/>
            <a:ext cx="8961120" cy="4311241"/>
          </a:xfrm>
        </p:spPr>
        <p:txBody>
          <a:bodyPr/>
          <a:lstStyle/>
          <a:p>
            <a:r>
              <a:rPr lang="en-US" sz="4800" dirty="0"/>
              <a:t>Project 0: Library Management 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80F586-19D8-755D-8C79-F8FF753AEE99}"/>
              </a:ext>
            </a:extLst>
          </p:cNvPr>
          <p:cNvSpPr txBox="1"/>
          <p:nvPr/>
        </p:nvSpPr>
        <p:spPr>
          <a:xfrm>
            <a:off x="707946" y="4844845"/>
            <a:ext cx="35701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A </a:t>
            </a:r>
            <a:r>
              <a:rPr lang="en-US" i="1" dirty="0" err="1">
                <a:solidFill>
                  <a:schemeClr val="bg1"/>
                </a:solidFill>
              </a:rPr>
              <a:t>Revature</a:t>
            </a:r>
            <a:r>
              <a:rPr lang="en-US" i="1" dirty="0">
                <a:solidFill>
                  <a:schemeClr val="bg1"/>
                </a:solidFill>
              </a:rPr>
              <a:t> Training Presentation</a:t>
            </a: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By Benjamin Tuley</a:t>
            </a:r>
            <a:br>
              <a:rPr lang="en-US" i="1" dirty="0">
                <a:solidFill>
                  <a:schemeClr val="bg1"/>
                </a:solidFill>
              </a:rPr>
            </a:br>
            <a:br>
              <a:rPr lang="en-US" i="1" dirty="0">
                <a:solidFill>
                  <a:schemeClr val="bg1"/>
                </a:solidFill>
              </a:rPr>
            </a:br>
            <a:r>
              <a:rPr lang="en-US" i="1" dirty="0">
                <a:solidFill>
                  <a:schemeClr val="bg1"/>
                </a:solidFill>
              </a:rPr>
              <a:t>23 December 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90399F-C1F9-5B48-B3FA-79F23680D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692" y="4558645"/>
            <a:ext cx="2674374" cy="9806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21401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6400800" cy="1828800"/>
          </a:xfrm>
        </p:spPr>
        <p:txBody>
          <a:bodyPr/>
          <a:lstStyle/>
          <a:p>
            <a:r>
              <a:rPr lang="en-US" sz="5400" dirty="0"/>
              <a:t>Design Requirements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66043" y="2778453"/>
            <a:ext cx="6400800" cy="325755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Written in Java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/>
              <a:t>Console Based</a:t>
            </a:r>
            <a:endParaRPr lang="en-U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Persistence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Separation of Concerns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6FA43-637B-EF8D-3849-CFD9352B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088" y="156256"/>
            <a:ext cx="6400800" cy="1960138"/>
          </a:xfrm>
        </p:spPr>
        <p:txBody>
          <a:bodyPr anchor="ctr"/>
          <a:lstStyle/>
          <a:p>
            <a:r>
              <a:rPr lang="en-US" dirty="0"/>
              <a:t>Desired Functionality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8BC9127-B73F-BC0E-9296-96D27145D4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99FF06D-36C7-78A0-4D6F-176E88F24763}"/>
              </a:ext>
            </a:extLst>
          </p:cNvPr>
          <p:cNvSpPr txBox="1">
            <a:spLocks/>
          </p:cNvSpPr>
          <p:nvPr/>
        </p:nvSpPr>
        <p:spPr>
          <a:xfrm>
            <a:off x="553088" y="2345439"/>
            <a:ext cx="8120221" cy="32575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dirty="0"/>
              <a:t>Three different entities implementing CRUD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Members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Books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Loans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221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6FA43-637B-EF8D-3849-CFD9352B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314" y="378623"/>
            <a:ext cx="7599718" cy="882363"/>
          </a:xfrm>
        </p:spPr>
        <p:txBody>
          <a:bodyPr anchor="b"/>
          <a:lstStyle/>
          <a:p>
            <a:r>
              <a:rPr lang="en-US" dirty="0"/>
              <a:t>Project Structure</a:t>
            </a:r>
          </a:p>
        </p:txBody>
      </p:sp>
      <p:pic>
        <p:nvPicPr>
          <p:cNvPr id="7" name="Picture 6" descr="A diagram of a computer">
            <a:extLst>
              <a:ext uri="{FF2B5EF4-FFF2-40B4-BE49-F238E27FC236}">
                <a16:creationId xmlns:a16="http://schemas.microsoft.com/office/drawing/2014/main" id="{EE1B842C-57C6-2F13-669B-0DE663BE5A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8" t="3095" r="2473" b="21911"/>
          <a:stretch>
            <a:fillRect/>
          </a:stretch>
        </p:blipFill>
        <p:spPr>
          <a:xfrm>
            <a:off x="774314" y="1673942"/>
            <a:ext cx="7934632" cy="41148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Arrow: Up-Down 10">
            <a:extLst>
              <a:ext uri="{FF2B5EF4-FFF2-40B4-BE49-F238E27FC236}">
                <a16:creationId xmlns:a16="http://schemas.microsoft.com/office/drawing/2014/main" id="{84ECC887-55D4-DC97-522A-179EED6B0777}"/>
              </a:ext>
            </a:extLst>
          </p:cNvPr>
          <p:cNvSpPr/>
          <p:nvPr/>
        </p:nvSpPr>
        <p:spPr>
          <a:xfrm>
            <a:off x="2853813" y="2794820"/>
            <a:ext cx="250722" cy="47194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375DC6FE-4339-79B3-831D-A4BCC5440FDF}"/>
              </a:ext>
            </a:extLst>
          </p:cNvPr>
          <p:cNvSpPr/>
          <p:nvPr/>
        </p:nvSpPr>
        <p:spPr>
          <a:xfrm>
            <a:off x="2853813" y="3591233"/>
            <a:ext cx="250722" cy="47194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Up-Down 12">
            <a:extLst>
              <a:ext uri="{FF2B5EF4-FFF2-40B4-BE49-F238E27FC236}">
                <a16:creationId xmlns:a16="http://schemas.microsoft.com/office/drawing/2014/main" id="{150275D8-704E-E7F2-3E59-3762067340E4}"/>
              </a:ext>
            </a:extLst>
          </p:cNvPr>
          <p:cNvSpPr/>
          <p:nvPr/>
        </p:nvSpPr>
        <p:spPr>
          <a:xfrm>
            <a:off x="2853813" y="4387646"/>
            <a:ext cx="250722" cy="47194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37AFA127-D660-D417-389A-99663183151B}"/>
              </a:ext>
            </a:extLst>
          </p:cNvPr>
          <p:cNvSpPr/>
          <p:nvPr/>
        </p:nvSpPr>
        <p:spPr>
          <a:xfrm rot="17108841">
            <a:off x="5749415" y="2076185"/>
            <a:ext cx="117703" cy="1657467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Up-Down 14">
            <a:extLst>
              <a:ext uri="{FF2B5EF4-FFF2-40B4-BE49-F238E27FC236}">
                <a16:creationId xmlns:a16="http://schemas.microsoft.com/office/drawing/2014/main" id="{3DB91F84-27D0-18AC-1BD2-1799144553BA}"/>
              </a:ext>
            </a:extLst>
          </p:cNvPr>
          <p:cNvSpPr/>
          <p:nvPr/>
        </p:nvSpPr>
        <p:spPr>
          <a:xfrm rot="16200000">
            <a:off x="5736143" y="2644514"/>
            <a:ext cx="144246" cy="1657467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Up-Down 15">
            <a:extLst>
              <a:ext uri="{FF2B5EF4-FFF2-40B4-BE49-F238E27FC236}">
                <a16:creationId xmlns:a16="http://schemas.microsoft.com/office/drawing/2014/main" id="{21062595-483B-AE2B-B4F1-AFCD1F6E93A6}"/>
              </a:ext>
            </a:extLst>
          </p:cNvPr>
          <p:cNvSpPr/>
          <p:nvPr/>
        </p:nvSpPr>
        <p:spPr>
          <a:xfrm rot="15149568">
            <a:off x="5755495" y="3157293"/>
            <a:ext cx="119531" cy="1657467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72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8E5B-47A0-EF94-A53D-6FDB74C9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0" y="621972"/>
            <a:ext cx="6400800" cy="749628"/>
          </a:xfrm>
        </p:spPr>
        <p:txBody>
          <a:bodyPr/>
          <a:lstStyle/>
          <a:p>
            <a:r>
              <a:rPr lang="en-US" dirty="0"/>
              <a:t>Database Structure</a:t>
            </a:r>
          </a:p>
        </p:txBody>
      </p:sp>
      <p:pic>
        <p:nvPicPr>
          <p:cNvPr id="7" name="Picture 6" descr="A screenshot of a computer">
            <a:extLst>
              <a:ext uri="{FF2B5EF4-FFF2-40B4-BE49-F238E27FC236}">
                <a16:creationId xmlns:a16="http://schemas.microsoft.com/office/drawing/2014/main" id="{87FE74F8-5A47-40B6-728A-5AF17E05A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745" y="2334430"/>
            <a:ext cx="7254869" cy="27053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65836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A910D-C396-C1F4-9F14-06E94368D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509B1ED-4D78-65EC-0579-DA9E41D7C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290134"/>
            <a:ext cx="6400800" cy="956106"/>
          </a:xfrm>
        </p:spPr>
        <p:txBody>
          <a:bodyPr anchor="b"/>
          <a:lstStyle/>
          <a:p>
            <a:r>
              <a:rPr lang="en-US" dirty="0"/>
              <a:t>Java Structure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513A98A-4FF5-4A82-5B68-2CA3E6D6E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551" y="1601847"/>
            <a:ext cx="4648740" cy="47121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3BE83A-1979-11B9-F797-E5177E656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185" y="1424043"/>
            <a:ext cx="4961050" cy="506773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47E95A-1D49-5E2B-7196-E2C4121494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4437" y="544021"/>
            <a:ext cx="5075360" cy="61727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6545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348845-3852-D4E6-EF42-8024EAC0E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062" y="2170373"/>
            <a:ext cx="8180412" cy="1828800"/>
          </a:xfrm>
        </p:spPr>
        <p:txBody>
          <a:bodyPr/>
          <a:lstStyle/>
          <a:p>
            <a:r>
              <a:rPr lang="en-US" sz="6600" dirty="0"/>
              <a:t>Application Demo</a:t>
            </a:r>
          </a:p>
        </p:txBody>
      </p:sp>
    </p:spTree>
    <p:extLst>
      <p:ext uri="{BB962C8B-B14F-4D97-AF65-F5344CB8AC3E}">
        <p14:creationId xmlns:p14="http://schemas.microsoft.com/office/powerpoint/2010/main" val="359155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680F5-A62D-12FA-2EE5-D24827F55C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B42601B-B8F3-CD8D-2DC9-3F73872D37D4}"/>
              </a:ext>
            </a:extLst>
          </p:cNvPr>
          <p:cNvSpPr txBox="1">
            <a:spLocks/>
          </p:cNvSpPr>
          <p:nvPr/>
        </p:nvSpPr>
        <p:spPr>
          <a:xfrm>
            <a:off x="858062" y="2170373"/>
            <a:ext cx="8180412" cy="18288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i="0" kern="1200" spc="100" baseline="0">
                <a:solidFill>
                  <a:schemeClr val="bg1"/>
                </a:solidFill>
                <a:latin typeface="+mj-lt"/>
                <a:ea typeface="+mj-ea"/>
                <a:cs typeface="Arial Black" panose="020B0604020202020204" pitchFamily="34" charset="0"/>
              </a:defRPr>
            </a:lvl1pPr>
          </a:lstStyle>
          <a:p>
            <a:r>
              <a:rPr lang="en-US" sz="6600"/>
              <a:t>Q &amp; A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66310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CE595D9-27F3-FE1C-9A37-0F9F79030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4" y="612647"/>
            <a:ext cx="10002589" cy="225591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A4869-4108-EB15-4EB0-B65C291C5D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4" y="3989440"/>
            <a:ext cx="7000972" cy="1709423"/>
          </a:xfrm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1003">
            <a:schemeClr val="dk1"/>
          </a:fillRef>
          <a:effectRef idx="0">
            <a:scrgbClr r="0" g="0" b="0"/>
          </a:effectRef>
          <a:fontRef idx="major"/>
        </p:style>
        <p:txBody>
          <a:bodyPr/>
          <a:lstStyle/>
          <a:p>
            <a:r>
              <a:rPr lang="en-US" dirty="0"/>
              <a:t>Benjamin Tuley</a:t>
            </a:r>
          </a:p>
          <a:p>
            <a:r>
              <a:rPr lang="en-US" dirty="0">
                <a:hlinkClick r:id="rId3"/>
              </a:rPr>
              <a:t>benjamin201@revature.net</a:t>
            </a:r>
            <a:r>
              <a:rPr lang="en-US" dirty="0"/>
              <a:t> </a:t>
            </a:r>
          </a:p>
          <a:p>
            <a:r>
              <a:rPr lang="en-US" dirty="0">
                <a:hlinkClick r:id="rId4"/>
              </a:rPr>
              <a:t>https://github.com/XenonReaction/Project_0-Library_Management_System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450595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3460604_win32_SL_V10" id="{99B34821-6204-44CE-8DD7-2088F7B07FF3}" vid="{E244DE33-B49D-4797-B149-ADA6E5DF59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B6D968-3BA5-45CA-AFA4-01F84FB04F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7C52C5-6F65-4D42-B855-A3283C55581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354E976-D9B8-49D6-BB1E-30B410663C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{2E6AAD2A-2E73-4E28-AB4B-559E4A464306}TF9de9d6eb-65d6-487b-af48-f077b562509aeb344968_win32-6a1f3ccf387e</Template>
  <TotalTime>80</TotalTime>
  <Words>388</Words>
  <Application>Microsoft Office PowerPoint</Application>
  <PresentationFormat>Widescreen</PresentationFormat>
  <Paragraphs>52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Custom</vt:lpstr>
      <vt:lpstr>Project 0: Library Management System</vt:lpstr>
      <vt:lpstr>Design Requirements</vt:lpstr>
      <vt:lpstr>Desired Functionality</vt:lpstr>
      <vt:lpstr>Project Structure</vt:lpstr>
      <vt:lpstr>Database Structure</vt:lpstr>
      <vt:lpstr>Java Structure</vt:lpstr>
      <vt:lpstr>Application Demo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Tuley</dc:creator>
  <cp:lastModifiedBy>Ben Tuley</cp:lastModifiedBy>
  <cp:revision>2</cp:revision>
  <dcterms:created xsi:type="dcterms:W3CDTF">2025-12-22T18:52:20Z</dcterms:created>
  <dcterms:modified xsi:type="dcterms:W3CDTF">2025-12-23T03:19:21Z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